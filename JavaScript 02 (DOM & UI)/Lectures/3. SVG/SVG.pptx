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84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6" r:id="rId19"/>
    <p:sldId id="278" r:id="rId20"/>
    <p:sldId id="279" r:id="rId21"/>
    <p:sldId id="280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4" d="100"/>
          <a:sy n="114" d="100"/>
        </p:scale>
        <p:origin x="-9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41452-C600-41D2-9741-6ECF12EA35EA}" type="datetimeFigureOut">
              <a:rPr lang="en-US" smtClean="0"/>
              <a:t>11/27/2013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A6D75-F8EF-4500-B971-F29CBBAAE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A6D75-F8EF-4500-B971-F29CBBAAE69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1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A6D75-F8EF-4500-B971-F29CBBAAE69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13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2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50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CF20ED08-E70C-4F83-9884-206434D79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12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2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CF20ED08-E70C-4F83-9884-206434D79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609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7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1031967"/>
            <a:ext cx="85964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1" y="1495156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9" y="940067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1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8" y="4405709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8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7" y="1979503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5" y="3272338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8" y="5396301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3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5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9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2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15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://kursove-uroci-knigi-obuchenie-programirane-web-design-csharp.info/" TargetMode="External"/><Relationship Id="rId13" Type="http://schemas.openxmlformats.org/officeDocument/2006/relationships/hyperlink" Target="http://mvccourse.telerik.com/" TargetMode="External"/><Relationship Id="rId18" Type="http://schemas.openxmlformats.org/officeDocument/2006/relationships/hyperlink" Target="http://algoacademy.telerik.com/" TargetMode="Externa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hyperlink" Target="http://mobiledevcourse.telerik.com/" TargetMode="External"/><Relationship Id="rId7" Type="http://schemas.openxmlformats.org/officeDocument/2006/relationships/hyperlink" Target="http://forums.academy.telerik.com/" TargetMode="External"/><Relationship Id="rId12" Type="http://schemas.openxmlformats.org/officeDocument/2006/relationships/hyperlink" Target="http://schoolacademy.telerik.com/" TargetMode="External"/><Relationship Id="rId17" Type="http://schemas.openxmlformats.org/officeDocument/2006/relationships/hyperlink" Target="http://codecourse.telerik.com/" TargetMode="External"/><Relationship Id="rId25" Type="http://schemas.openxmlformats.org/officeDocument/2006/relationships/hyperlink" Target="http://csharpfundamentals.telerik.com/" TargetMode="Externa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nakov.com/" TargetMode="External"/><Relationship Id="rId20" Type="http://schemas.openxmlformats.org/officeDocument/2006/relationships/hyperlink" Target="http://academy.telerik.com/" TargetMode="Externa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hyperlink" Target="http://html5course.telerik.com/" TargetMode="External"/><Relationship Id="rId24" Type="http://schemas.openxmlformats.org/officeDocument/2006/relationships/hyperlink" Target="http://www.nikolay.it/" TargetMode="Externa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bgcoder.com/" TargetMode="External"/><Relationship Id="rId23" Type="http://schemas.openxmlformats.org/officeDocument/2006/relationships/hyperlink" Target="http://www.minkov.it/" TargetMode="External"/><Relationship Id="rId28" Type="http://schemas.openxmlformats.org/officeDocument/2006/relationships/image" Target="../media/image3.png"/><Relationship Id="rId10" Type="http://schemas.openxmlformats.org/officeDocument/2006/relationships/hyperlink" Target="http://seocourse.telerik.com/" TargetMode="External"/><Relationship Id="rId19" Type="http://schemas.openxmlformats.org/officeDocument/2006/relationships/hyperlink" Target="http://aspnetcourse.telerik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telerik-kids.com/" TargetMode="External"/><Relationship Id="rId14" Type="http://schemas.openxmlformats.org/officeDocument/2006/relationships/hyperlink" Target="http://clouddevcourse.telerik.com/" TargetMode="External"/><Relationship Id="rId22" Type="http://schemas.openxmlformats.org/officeDocument/2006/relationships/hyperlink" Target="http://www.introprogramming.info/" TargetMode="External"/><Relationship Id="rId27" Type="http://schemas.openxmlformats.org/officeDocument/2006/relationships/image" Target="../media/image2.png"/><Relationship Id="rId3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5401" y="304800"/>
            <a:ext cx="1816798" cy="331718"/>
            <a:chOff x="1236228" y="1523999"/>
            <a:chExt cx="4351212" cy="3261410"/>
          </a:xfrm>
          <a:solidFill>
            <a:schemeClr val="bg1"/>
          </a:solidFill>
        </p:grpSpPr>
        <p:sp>
          <p:nvSpPr>
            <p:cNvPr id="10" name="TextBox 9">
              <a:hlinkClick r:id="rId7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1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TextBox 10">
              <a:hlinkClick r:id="rId8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7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hlinkClick r:id="rId9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4"/>
              <a:ext cx="181669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hlinkClick r:id="rId10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4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" name="TextBox 13">
              <a:hlinkClick r:id="rId11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4" y="2878556"/>
              <a:ext cx="190883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" name="TextBox 14">
              <a:hlinkClick r:id="rId12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hlinkClick r:id="rId13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2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TextBox 17">
              <a:hlinkClick r:id="rId14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hlinkClick r:id="rId15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TextBox 19">
              <a:hlinkClick r:id="rId16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1" name="TextBox 20">
              <a:hlinkClick r:id="rId17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2" name="TextBox 21">
              <a:hlinkClick r:id="rId18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TextBox 22">
              <a:hlinkClick r:id="rId19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4" name="TextBox 23">
              <a:hlinkClick r:id="rId20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hlinkClick r:id="rId21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TextBox 25">
              <a:hlinkClick r:id="rId22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7" name="TextBox 26">
              <a:hlinkClick r:id="rId23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hlinkClick r:id="rId24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hlinkClick r:id="rId25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80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2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2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Telerik Academy for Software Engineers - http://academy.telerik.com" title="Telerik Software Academy"/>
          <p:cNvPicPr>
            <a:picLocks noChangeAspect="1" noChangeArrowheads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2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728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ekov.telerik-students.org/" TargetMode="External"/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SVG</a:t>
            </a:r>
            <a:br>
              <a:rPr lang="en-US" dirty="0" smtClean="0"/>
            </a:br>
            <a:r>
              <a:rPr lang="en-US" dirty="0" smtClean="0"/>
              <a:t>Scalable Vector Graphics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ass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Antony </a:t>
            </a:r>
            <a:r>
              <a:rPr lang="en-US" dirty="0" err="1" smtClean="0"/>
              <a:t>Jekov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Academy Intern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57200" y="5405735"/>
            <a:ext cx="3779240" cy="1015663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http://jekov.telerik-students.org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2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SVG Overview</a:t>
            </a:r>
          </a:p>
          <a:p>
            <a:r>
              <a:rPr lang="en-US" dirty="0" smtClean="0"/>
              <a:t>Vector Graphics Overview</a:t>
            </a:r>
          </a:p>
          <a:p>
            <a:r>
              <a:rPr lang="en-US" dirty="0" smtClean="0"/>
              <a:t>Simple SVG Elements</a:t>
            </a:r>
          </a:p>
          <a:p>
            <a:r>
              <a:rPr lang="en-US" dirty="0" smtClean="0"/>
              <a:t>Animations and Filters</a:t>
            </a:r>
          </a:p>
          <a:p>
            <a:r>
              <a:rPr lang="en-US" dirty="0" smtClean="0"/>
              <a:t>SVG Libraries</a:t>
            </a:r>
          </a:p>
          <a:p>
            <a:pPr lvl="1"/>
            <a:r>
              <a:rPr lang="en-US" dirty="0" smtClean="0"/>
              <a:t>Raphael.js</a:t>
            </a:r>
          </a:p>
          <a:p>
            <a:r>
              <a:rPr lang="en-US" dirty="0" smtClean="0"/>
              <a:t>SVG Generating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1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SVG Overview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051560"/>
            <a:ext cx="8686800" cy="5187696"/>
          </a:xfrm>
        </p:spPr>
        <p:txBody>
          <a:bodyPr/>
          <a:lstStyle/>
          <a:p>
            <a:r>
              <a:rPr lang="en-US" dirty="0"/>
              <a:t>SVG is a language for describing two dimensional vector graphics using XML.</a:t>
            </a:r>
          </a:p>
          <a:p>
            <a:r>
              <a:rPr lang="en-US" dirty="0"/>
              <a:t>SVG stands for Scalable Vector Graphics</a:t>
            </a:r>
          </a:p>
          <a:p>
            <a:r>
              <a:rPr lang="en-US" dirty="0"/>
              <a:t>SVG is platform independent and is freely understood by most browsers, where versions of Internet Explorer 8 and bellow need an additional plugin.</a:t>
            </a:r>
          </a:p>
        </p:txBody>
      </p:sp>
    </p:spTree>
    <p:extLst>
      <p:ext uri="{BB962C8B-B14F-4D97-AF65-F5344CB8AC3E}">
        <p14:creationId xmlns:p14="http://schemas.microsoft.com/office/powerpoint/2010/main" val="368965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28800" y="143312"/>
            <a:ext cx="7086600" cy="838200"/>
          </a:xfrm>
        </p:spPr>
        <p:txBody>
          <a:bodyPr/>
          <a:lstStyle/>
          <a:p>
            <a:r>
              <a:rPr lang="en-US" dirty="0" smtClean="0"/>
              <a:t>Vector Graphics Overview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051560"/>
            <a:ext cx="8686800" cy="5187696"/>
          </a:xfrm>
        </p:spPr>
        <p:txBody>
          <a:bodyPr/>
          <a:lstStyle/>
          <a:p>
            <a:r>
              <a:rPr lang="en-US" dirty="0" smtClean="0"/>
              <a:t>Based on mathematical expressions</a:t>
            </a:r>
          </a:p>
          <a:p>
            <a:r>
              <a:rPr lang="en-US" dirty="0" smtClean="0"/>
              <a:t>Consist of geometrical primitives such as points, lines, curves and shapes or polygons.</a:t>
            </a:r>
          </a:p>
          <a:p>
            <a:r>
              <a:rPr lang="en-US" dirty="0" smtClean="0"/>
              <a:t>Used to represent images in computer graphics.</a:t>
            </a:r>
          </a:p>
          <a:p>
            <a:r>
              <a:rPr lang="en-US" dirty="0" smtClean="0"/>
              <a:t>Vectors are locations called paths or strokes and they represent a point in two dimensional space that holds coordinates for the ‘x’ and ‘y’ axis.</a:t>
            </a:r>
          </a:p>
        </p:txBody>
      </p:sp>
    </p:spTree>
    <p:extLst>
      <p:ext uri="{BB962C8B-B14F-4D97-AF65-F5344CB8AC3E}">
        <p14:creationId xmlns:p14="http://schemas.microsoft.com/office/powerpoint/2010/main" val="142943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SVG in a web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1477328"/>
          </a:xfrm>
        </p:spPr>
        <p:txBody>
          <a:bodyPr/>
          <a:lstStyle/>
          <a:p>
            <a:r>
              <a:rPr lang="en-US" dirty="0" smtClean="0"/>
              <a:t>To use SVG you need to simply open the &lt;</a:t>
            </a:r>
            <a:r>
              <a:rPr lang="en-US" dirty="0" err="1" smtClean="0"/>
              <a:t>svg</a:t>
            </a:r>
            <a:r>
              <a:rPr lang="en-US" dirty="0" smtClean="0"/>
              <a:t>&gt; tag and to start defining your shapes using xml notation.</a:t>
            </a:r>
            <a:endParaRPr lang="en-US" sz="280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33400" y="2724912"/>
            <a:ext cx="8077200" cy="1323439"/>
          </a:xfrm>
        </p:spPr>
        <p:txBody>
          <a:bodyPr/>
          <a:lstStyle/>
          <a:p>
            <a:r>
              <a:rPr lang="en-US" dirty="0" smtClean="0"/>
              <a:t>&lt;</a:t>
            </a:r>
            <a:r>
              <a:rPr lang="en-US" dirty="0" err="1" smtClean="0"/>
              <a:t>svg</a:t>
            </a:r>
            <a:r>
              <a:rPr lang="en-US" dirty="0" smtClean="0"/>
              <a:t>&gt;</a:t>
            </a:r>
          </a:p>
          <a:p>
            <a:r>
              <a:rPr lang="en-US" dirty="0"/>
              <a:t> </a:t>
            </a:r>
            <a:r>
              <a:rPr lang="en-US" dirty="0" smtClean="0"/>
              <a:t>  &lt;</a:t>
            </a:r>
            <a:r>
              <a:rPr lang="en-US" dirty="0" err="1"/>
              <a:t>rect</a:t>
            </a:r>
            <a:r>
              <a:rPr lang="en-US" dirty="0"/>
              <a:t> width="150" height="150" fill="</a:t>
            </a:r>
            <a:r>
              <a:rPr lang="en-US" dirty="0" smtClean="0"/>
              <a:t>blue“         	stroke</a:t>
            </a:r>
            <a:r>
              <a:rPr lang="en-US" dirty="0"/>
              <a:t>="red" stroke-width="2"</a:t>
            </a:r>
            <a:r>
              <a:rPr lang="en-US" dirty="0" smtClean="0"/>
              <a:t> /&gt;</a:t>
            </a:r>
          </a:p>
          <a:p>
            <a:r>
              <a:rPr lang="en-US" dirty="0" smtClean="0"/>
              <a:t>&lt;/</a:t>
            </a:r>
            <a:r>
              <a:rPr lang="en-US" dirty="0" err="1" smtClean="0"/>
              <a:t>svg</a:t>
            </a:r>
            <a:r>
              <a:rPr lang="en-US" dirty="0" smtClean="0"/>
              <a:t>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0290" y="4395831"/>
            <a:ext cx="1371600" cy="1371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45420" y="1924542"/>
            <a:ext cx="7924800" cy="685800"/>
          </a:xfrm>
        </p:spPr>
        <p:txBody>
          <a:bodyPr/>
          <a:lstStyle/>
          <a:p>
            <a:r>
              <a:rPr lang="en-US" dirty="0" smtClean="0"/>
              <a:t>Simple SVG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02139" y="3120605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7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Animations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1015663"/>
          </a:xfrm>
        </p:spPr>
        <p:txBody>
          <a:bodyPr/>
          <a:lstStyle/>
          <a:p>
            <a:r>
              <a:rPr lang="en-US" dirty="0" smtClean="0"/>
              <a:t>Simple animations can be performed by adding &lt;animate&gt; tag with some additional properties.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56616" y="2036066"/>
            <a:ext cx="8430768" cy="3785652"/>
          </a:xfrm>
        </p:spPr>
        <p:txBody>
          <a:bodyPr/>
          <a:lstStyle/>
          <a:p>
            <a:r>
              <a:rPr lang="fr-FR" dirty="0" smtClean="0"/>
              <a:t>&lt;</a:t>
            </a:r>
            <a:r>
              <a:rPr lang="fr-FR" dirty="0" err="1" smtClean="0"/>
              <a:t>circle</a:t>
            </a:r>
            <a:r>
              <a:rPr lang="fr-FR" dirty="0" smtClean="0"/>
              <a:t> </a:t>
            </a:r>
            <a:r>
              <a:rPr lang="fr-FR" dirty="0"/>
              <a:t>cx="200" </a:t>
            </a:r>
            <a:r>
              <a:rPr lang="fr-FR" dirty="0" err="1"/>
              <a:t>cy</a:t>
            </a:r>
            <a:r>
              <a:rPr lang="fr-FR" dirty="0"/>
              <a:t>="200" r="100" </a:t>
            </a:r>
            <a:r>
              <a:rPr lang="fr-FR" dirty="0" err="1"/>
              <a:t>fill</a:t>
            </a:r>
            <a:r>
              <a:rPr lang="fr-FR" dirty="0"/>
              <a:t>="</a:t>
            </a:r>
            <a:r>
              <a:rPr lang="fr-FR" dirty="0" err="1"/>
              <a:t>red</a:t>
            </a:r>
            <a:r>
              <a:rPr lang="fr-FR" dirty="0"/>
              <a:t>"&gt;</a:t>
            </a:r>
          </a:p>
          <a:p>
            <a:r>
              <a:rPr lang="en-US" dirty="0" smtClean="0"/>
              <a:t>   &lt;</a:t>
            </a:r>
            <a:r>
              <a:rPr lang="en-US" dirty="0"/>
              <a:t>animate </a:t>
            </a:r>
            <a:r>
              <a:rPr lang="en-US" dirty="0" err="1"/>
              <a:t>attributeName</a:t>
            </a:r>
            <a:r>
              <a:rPr lang="en-US" dirty="0"/>
              <a:t>="fill" to="blue" </a:t>
            </a:r>
            <a:r>
              <a:rPr lang="en-US" dirty="0" err="1"/>
              <a:t>dur</a:t>
            </a:r>
            <a:r>
              <a:rPr lang="en-US" dirty="0"/>
              <a:t>=".4s" </a:t>
            </a:r>
            <a:r>
              <a:rPr lang="en-US" dirty="0" smtClean="0"/>
              <a:t>	</a:t>
            </a:r>
            <a:r>
              <a:rPr lang="en-US" dirty="0" err="1" smtClean="0"/>
              <a:t>repeatCount</a:t>
            </a:r>
            <a:r>
              <a:rPr lang="en-US" dirty="0"/>
              <a:t>="indefinite" /&gt;</a:t>
            </a:r>
          </a:p>
          <a:p>
            <a:r>
              <a:rPr lang="en-US" dirty="0" smtClean="0"/>
              <a:t>&lt;/</a:t>
            </a:r>
            <a:r>
              <a:rPr lang="en-US" dirty="0"/>
              <a:t>circle&gt;</a:t>
            </a:r>
          </a:p>
          <a:p>
            <a:r>
              <a:rPr lang="en-US" dirty="0" smtClean="0"/>
              <a:t>&lt;</a:t>
            </a:r>
            <a:r>
              <a:rPr lang="en-US" dirty="0" err="1" smtClean="0"/>
              <a:t>rect</a:t>
            </a:r>
            <a:r>
              <a:rPr lang="en-US" dirty="0" smtClean="0"/>
              <a:t> </a:t>
            </a:r>
            <a:r>
              <a:rPr lang="en-US" dirty="0"/>
              <a:t>width="50" height="50" x="600" fill="red"&gt;</a:t>
            </a:r>
          </a:p>
          <a:p>
            <a:r>
              <a:rPr lang="en-US" dirty="0" smtClean="0"/>
              <a:t>   </a:t>
            </a:r>
            <a:r>
              <a:rPr lang="en-US" dirty="0"/>
              <a:t>&lt;animate </a:t>
            </a:r>
            <a:r>
              <a:rPr lang="en-US" dirty="0" err="1"/>
              <a:t>attributeName</a:t>
            </a:r>
            <a:r>
              <a:rPr lang="en-US" dirty="0"/>
              <a:t>="y" from="-50" to="600" </a:t>
            </a:r>
            <a:r>
              <a:rPr lang="en-US" dirty="0" err="1"/>
              <a:t>dur</a:t>
            </a:r>
            <a:r>
              <a:rPr lang="en-US" dirty="0"/>
              <a:t>="5s" </a:t>
            </a:r>
            <a:r>
              <a:rPr lang="en-US" dirty="0" smtClean="0"/>
              <a:t>	</a:t>
            </a:r>
            <a:r>
              <a:rPr lang="en-US" dirty="0" err="1" smtClean="0"/>
              <a:t>repeatCount</a:t>
            </a:r>
            <a:r>
              <a:rPr lang="en-US" dirty="0"/>
              <a:t>="indefinite" /&gt;</a:t>
            </a:r>
          </a:p>
          <a:p>
            <a:r>
              <a:rPr lang="en-US" dirty="0"/>
              <a:t>            &lt;/</a:t>
            </a:r>
            <a:r>
              <a:rPr lang="en-US" dirty="0" err="1"/>
              <a:t>rect</a:t>
            </a:r>
            <a:r>
              <a:rPr lang="en-US" dirty="0"/>
              <a:t>&gt;</a:t>
            </a:r>
          </a:p>
          <a:p>
            <a:r>
              <a:rPr lang="en-US" dirty="0" smtClean="0"/>
              <a:t>&lt;</a:t>
            </a:r>
            <a:r>
              <a:rPr lang="en-US" dirty="0"/>
              <a:t>ellipse cx="200" cy="400" </a:t>
            </a:r>
            <a:r>
              <a:rPr lang="en-US" dirty="0" err="1"/>
              <a:t>rx</a:t>
            </a:r>
            <a:r>
              <a:rPr lang="en-US" dirty="0"/>
              <a:t>="50" </a:t>
            </a:r>
            <a:r>
              <a:rPr lang="en-US" dirty="0" err="1"/>
              <a:t>ry</a:t>
            </a:r>
            <a:r>
              <a:rPr lang="en-US" dirty="0"/>
              <a:t>="75" fill="purple</a:t>
            </a:r>
            <a:r>
              <a:rPr lang="en-US" dirty="0" smtClean="0"/>
              <a:t>"&gt;</a:t>
            </a:r>
          </a:p>
          <a:p>
            <a:r>
              <a:rPr lang="en-US" dirty="0"/>
              <a:t> </a:t>
            </a:r>
            <a:r>
              <a:rPr lang="en-US" dirty="0" smtClean="0"/>
              <a:t>  &lt;animate </a:t>
            </a:r>
            <a:r>
              <a:rPr lang="en-US" dirty="0" err="1" smtClean="0"/>
              <a:t>attributeName</a:t>
            </a:r>
            <a:r>
              <a:rPr lang="en-US" dirty="0" smtClean="0"/>
              <a:t>="</a:t>
            </a:r>
            <a:r>
              <a:rPr lang="en-US" dirty="0" err="1" smtClean="0"/>
              <a:t>rx</a:t>
            </a:r>
            <a:r>
              <a:rPr lang="en-US" dirty="0" smtClean="0"/>
              <a:t>" to="75" </a:t>
            </a:r>
            <a:r>
              <a:rPr lang="en-US" dirty="0" err="1" smtClean="0"/>
              <a:t>dur</a:t>
            </a:r>
            <a:r>
              <a:rPr lang="en-US" dirty="0" smtClean="0"/>
              <a:t>="4s" 	</a:t>
            </a:r>
            <a:r>
              <a:rPr lang="en-US" dirty="0" err="1" smtClean="0"/>
              <a:t>repeatCount</a:t>
            </a:r>
            <a:r>
              <a:rPr lang="en-US" dirty="0" smtClean="0"/>
              <a:t>="indefinite" /&gt;</a:t>
            </a:r>
          </a:p>
          <a:p>
            <a:r>
              <a:rPr lang="en-US" dirty="0" smtClean="0"/>
              <a:t>&lt;/</a:t>
            </a:r>
            <a:r>
              <a:rPr lang="en-US" dirty="0"/>
              <a:t>ellipse&gt;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55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4099" y="1713884"/>
            <a:ext cx="7924800" cy="685800"/>
          </a:xfrm>
        </p:spPr>
        <p:txBody>
          <a:bodyPr/>
          <a:lstStyle/>
          <a:p>
            <a:r>
              <a:rPr lang="en-US" dirty="0" smtClean="0"/>
              <a:t>Animations Demo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99875" y="2641499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56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3998"/>
          </a:xfrm>
        </p:spPr>
        <p:txBody>
          <a:bodyPr/>
          <a:lstStyle/>
          <a:p>
            <a:r>
              <a:rPr lang="en-US" dirty="0" smtClean="0"/>
              <a:t>SVG filters</a:t>
            </a:r>
            <a:endParaRPr lang="en-US" sz="2600" dirty="0" smtClean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84632" y="3304796"/>
            <a:ext cx="8174736" cy="400110"/>
          </a:xfrm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8458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066801"/>
            <a:ext cx="7924800" cy="685800"/>
          </a:xfrm>
        </p:spPr>
        <p:txBody>
          <a:bodyPr/>
          <a:lstStyle/>
          <a:p>
            <a:r>
              <a:rPr lang="en-US" dirty="0" smtClean="0"/>
              <a:t>List Sections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09600" y="1793080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5122" name="Picture 2" descr="http://upload.wikimedia.org/wikipedia/commons/1/14/NewPageTriage-ListView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8" t="19504" r="3741" b="29905"/>
          <a:stretch/>
        </p:blipFill>
        <p:spPr bwMode="auto">
          <a:xfrm>
            <a:off x="1803399" y="2649140"/>
            <a:ext cx="5537202" cy="3508302"/>
          </a:xfrm>
          <a:prstGeom prst="roundRect">
            <a:avLst>
              <a:gd name="adj" fmla="val 3675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60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Inverted Sections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said earlier, sections work like a if-else statement</a:t>
            </a:r>
          </a:p>
          <a:p>
            <a:pPr lvl="1"/>
            <a:r>
              <a:rPr lang="en-US" dirty="0" smtClean="0"/>
              <a:t>The regular sections are the IF statements</a:t>
            </a:r>
          </a:p>
          <a:p>
            <a:pPr lvl="1"/>
            <a:r>
              <a:rPr lang="en-US" dirty="0" smtClean="0"/>
              <a:t>The inverted sections are the ELSE statements</a:t>
            </a:r>
            <a:endParaRPr lang="en-US" dirty="0"/>
          </a:p>
          <a:p>
            <a:r>
              <a:rPr lang="en-US" dirty="0" smtClean="0"/>
              <a:t>Inverted sections start with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{{^prop}}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  <a:cs typeface="Consolas" panose="020B0609020204030204" pitchFamily="49" charset="0"/>
              </a:rPr>
              <a:t> </a:t>
            </a:r>
            <a:r>
              <a:rPr lang="en-US" dirty="0" smtClean="0"/>
              <a:t>and end with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{{/prop}}</a:t>
            </a:r>
          </a:p>
          <a:p>
            <a:r>
              <a:rPr lang="en-US" dirty="0" smtClean="0"/>
              <a:t>Inverted sections are rendered only if the property is evaluated to "false"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35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Inverted Sections: Example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3998"/>
          </a:xfrm>
        </p:spPr>
        <p:txBody>
          <a:bodyPr/>
          <a:lstStyle/>
          <a:p>
            <a:r>
              <a:rPr lang="en-US" dirty="0" smtClean="0"/>
              <a:t>Only one of the students has no marks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3400" y="1688594"/>
            <a:ext cx="8077200" cy="4093428"/>
          </a:xfrm>
        </p:spPr>
        <p:txBody>
          <a:bodyPr/>
          <a:lstStyle/>
          <a:p>
            <a:r>
              <a:rPr lang="en-US" dirty="0"/>
              <a:t>var view = {</a:t>
            </a:r>
          </a:p>
          <a:p>
            <a:r>
              <a:rPr lang="en-US" dirty="0"/>
              <a:t>students: [</a:t>
            </a:r>
          </a:p>
          <a:p>
            <a:r>
              <a:rPr lang="en-US" dirty="0"/>
              <a:t>  { name: "</a:t>
            </a:r>
            <a:r>
              <a:rPr lang="en-US" dirty="0" err="1"/>
              <a:t>Pesho</a:t>
            </a:r>
            <a:r>
              <a:rPr lang="en-US" dirty="0"/>
              <a:t>", marks: [5, 4, 3.5] },</a:t>
            </a:r>
          </a:p>
          <a:p>
            <a:r>
              <a:rPr lang="en-US" dirty="0"/>
              <a:t>  { name: "</a:t>
            </a:r>
            <a:r>
              <a:rPr lang="en-US" dirty="0" err="1"/>
              <a:t>Gosho</a:t>
            </a:r>
            <a:r>
              <a:rPr lang="en-US" dirty="0"/>
              <a:t>" },</a:t>
            </a:r>
          </a:p>
          <a:p>
            <a:r>
              <a:rPr lang="en-US" dirty="0"/>
              <a:t>  { name: "</a:t>
            </a:r>
            <a:r>
              <a:rPr lang="en-US" dirty="0" err="1"/>
              <a:t>Mimeto</a:t>
            </a:r>
            <a:r>
              <a:rPr lang="en-US" dirty="0"/>
              <a:t>", marks: [6.5, 5.3, 3.5] }</a:t>
            </a:r>
          </a:p>
          <a:p>
            <a:r>
              <a:rPr lang="en-US" dirty="0"/>
              <a:t>]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var template =</a:t>
            </a:r>
          </a:p>
          <a:p>
            <a:r>
              <a:rPr lang="en-US" dirty="0" smtClean="0"/>
              <a:t>  "{{#</a:t>
            </a:r>
            <a:r>
              <a:rPr lang="en-US" dirty="0"/>
              <a:t>students}} {{name}} </a:t>
            </a:r>
            <a:r>
              <a:rPr lang="en-US" dirty="0" smtClean="0"/>
              <a:t>has </a:t>
            </a:r>
            <a:r>
              <a:rPr lang="en-US" dirty="0"/>
              <a:t>" +</a:t>
            </a:r>
          </a:p>
          <a:p>
            <a:r>
              <a:rPr lang="en-US" dirty="0" smtClean="0"/>
              <a:t>    "</a:t>
            </a:r>
            <a:r>
              <a:rPr lang="en-US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{{#</a:t>
            </a: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marks}} {{.}} {{/marks}}</a:t>
            </a:r>
            <a:r>
              <a:rPr lang="en-US" dirty="0"/>
              <a:t>" +</a:t>
            </a:r>
          </a:p>
          <a:p>
            <a:r>
              <a:rPr lang="en-US" dirty="0" smtClean="0"/>
              <a:t>    "</a:t>
            </a:r>
            <a:r>
              <a:rPr lang="en-US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{{^</a:t>
            </a: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marks}} no marks {{/marks}}</a:t>
            </a:r>
            <a:r>
              <a:rPr lang="en-US" dirty="0"/>
              <a:t>\n" +</a:t>
            </a:r>
          </a:p>
          <a:p>
            <a:r>
              <a:rPr lang="en-US" dirty="0" smtClean="0"/>
              <a:t>  "{{/</a:t>
            </a:r>
            <a:r>
              <a:rPr lang="en-US" dirty="0"/>
              <a:t>students}}";</a:t>
            </a:r>
          </a:p>
        </p:txBody>
      </p:sp>
    </p:spTree>
    <p:extLst>
      <p:ext uri="{BB962C8B-B14F-4D97-AF65-F5344CB8AC3E}">
        <p14:creationId xmlns:p14="http://schemas.microsoft.com/office/powerpoint/2010/main" val="176278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94100" y="2374901"/>
            <a:ext cx="6197600" cy="685800"/>
          </a:xfrm>
        </p:spPr>
        <p:txBody>
          <a:bodyPr/>
          <a:lstStyle/>
          <a:p>
            <a:r>
              <a:rPr lang="en-US" dirty="0" smtClean="0"/>
              <a:t>Inverted </a:t>
            </a:r>
            <a:br>
              <a:rPr lang="en-US" dirty="0" smtClean="0"/>
            </a:br>
            <a:r>
              <a:rPr lang="en-US" dirty="0" smtClean="0"/>
              <a:t>Sections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594100" y="3621880"/>
            <a:ext cx="61976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6146" name="Picture 2" descr="http://upload.wikimedia.org/wikipedia/commons/thumb/3/34/Cat_Mirage.jpg/220px-Cat_Mir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397000"/>
            <a:ext cx="3188804" cy="4000500"/>
          </a:xfrm>
          <a:prstGeom prst="roundRect">
            <a:avLst>
              <a:gd name="adj" fmla="val 3675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13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651001"/>
            <a:ext cx="7924800" cy="685800"/>
          </a:xfrm>
        </p:spPr>
        <p:txBody>
          <a:bodyPr/>
          <a:lstStyle/>
          <a:p>
            <a:r>
              <a:rPr lang="en-US" dirty="0" smtClean="0"/>
              <a:t>Render Functions</a:t>
            </a:r>
            <a:endParaRPr lang="en-US" dirty="0"/>
          </a:p>
        </p:txBody>
      </p:sp>
      <p:pic>
        <p:nvPicPr>
          <p:cNvPr id="7170" name="Picture 2" descr="http://upload.wikimedia.org/wikipedia/en/5/5f/3D_Rend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85" y="2755901"/>
            <a:ext cx="6651830" cy="2625722"/>
          </a:xfrm>
          <a:prstGeom prst="roundRect">
            <a:avLst>
              <a:gd name="adj" fmla="val 3675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65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 Functions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2067233"/>
          </a:xfrm>
        </p:spPr>
        <p:txBody>
          <a:bodyPr/>
          <a:lstStyle/>
          <a:p>
            <a:r>
              <a:rPr lang="en-US" dirty="0" smtClean="0"/>
              <a:t>Mustache.js can use render functions, if they are defined in the object</a:t>
            </a:r>
          </a:p>
          <a:p>
            <a:pPr lvl="1"/>
            <a:r>
              <a:rPr lang="en-US" sz="2800" dirty="0" smtClean="0"/>
              <a:t>Define a render function to control the rendering of your object</a:t>
            </a:r>
            <a:endParaRPr lang="en-US" sz="28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533400" y="3051050"/>
            <a:ext cx="8077200" cy="3600986"/>
          </a:xfrm>
        </p:spPr>
        <p:txBody>
          <a:bodyPr/>
          <a:lstStyle/>
          <a:p>
            <a:r>
              <a:rPr lang="en-US" sz="1900" dirty="0"/>
              <a:t>var person = {</a:t>
            </a:r>
          </a:p>
          <a:p>
            <a:r>
              <a:rPr lang="en-US" sz="1900" dirty="0" smtClean="0"/>
              <a:t>  </a:t>
            </a:r>
            <a:r>
              <a:rPr lang="en-US" sz="1900" dirty="0" err="1" smtClean="0"/>
              <a:t>fname</a:t>
            </a:r>
            <a:r>
              <a:rPr lang="en-US" sz="1900" dirty="0"/>
              <a:t>: "Doncho</a:t>
            </a:r>
            <a:r>
              <a:rPr lang="en-US" sz="1900" dirty="0" smtClean="0"/>
              <a:t>", </a:t>
            </a:r>
            <a:r>
              <a:rPr lang="en-US" sz="1900" dirty="0" err="1" smtClean="0"/>
              <a:t>lname</a:t>
            </a:r>
            <a:r>
              <a:rPr lang="en-US" sz="1900" dirty="0"/>
              <a:t>: "Minkov",</a:t>
            </a:r>
          </a:p>
          <a:p>
            <a:r>
              <a:rPr lang="en-US" sz="1900" dirty="0" smtClean="0"/>
              <a:t>  </a:t>
            </a:r>
            <a:r>
              <a:rPr lang="en-US" sz="1900" dirty="0" err="1" smtClean="0"/>
              <a:t>fullname</a:t>
            </a:r>
            <a:r>
              <a:rPr lang="en-US" sz="1900" dirty="0"/>
              <a:t>: </a:t>
            </a:r>
            <a:r>
              <a:rPr lang="en-US" sz="1900" dirty="0" smtClean="0"/>
              <a:t>function </a:t>
            </a:r>
            <a:r>
              <a:rPr lang="en-US" sz="1900" dirty="0"/>
              <a:t>() {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  return </a:t>
            </a:r>
            <a:r>
              <a:rPr lang="en-US" sz="1900" dirty="0" err="1"/>
              <a:t>this.fname</a:t>
            </a:r>
            <a:r>
              <a:rPr lang="en-US" sz="1900" dirty="0"/>
              <a:t> + " " + </a:t>
            </a:r>
            <a:r>
              <a:rPr lang="en-US" sz="1900" dirty="0" err="1"/>
              <a:t>this.lname</a:t>
            </a:r>
            <a:r>
              <a:rPr lang="en-US" sz="1900" dirty="0"/>
              <a:t>; },</a:t>
            </a:r>
          </a:p>
          <a:p>
            <a:r>
              <a:rPr lang="en-US" sz="1900" dirty="0" smtClean="0"/>
              <a:t>  </a:t>
            </a:r>
            <a:r>
              <a:rPr lang="en-US" sz="1900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render</a:t>
            </a:r>
            <a:r>
              <a:rPr lang="en-US" sz="1900" dirty="0"/>
              <a:t>: function () </a:t>
            </a:r>
            <a:r>
              <a:rPr lang="en-US" sz="1900" dirty="0" smtClean="0"/>
              <a:t>{</a:t>
            </a:r>
          </a:p>
          <a:p>
            <a:r>
              <a:rPr lang="en-US" sz="1900" dirty="0" smtClean="0"/>
              <a:t>    return function (text, render) {</a:t>
            </a:r>
          </a:p>
          <a:p>
            <a:r>
              <a:rPr lang="en-US" sz="1900" dirty="0" smtClean="0"/>
              <a:t>      return </a:t>
            </a:r>
            <a:r>
              <a:rPr lang="en-US" sz="1900" dirty="0"/>
              <a:t>"&lt;strong&gt;" + render(text) + "&lt;/strong&gt;";</a:t>
            </a:r>
          </a:p>
          <a:p>
            <a:r>
              <a:rPr lang="en-US" sz="1900" dirty="0" smtClean="0"/>
              <a:t>    }</a:t>
            </a:r>
            <a:endParaRPr lang="en-US" sz="1900" dirty="0"/>
          </a:p>
          <a:p>
            <a:r>
              <a:rPr lang="en-US" sz="1900" dirty="0" smtClean="0"/>
              <a:t>  }</a:t>
            </a:r>
            <a:endParaRPr lang="en-US" sz="1900" dirty="0"/>
          </a:p>
          <a:p>
            <a:r>
              <a:rPr lang="en-US" sz="1900" dirty="0"/>
              <a:t>};</a:t>
            </a:r>
          </a:p>
          <a:p>
            <a:r>
              <a:rPr lang="en-US" sz="1900" dirty="0" smtClean="0"/>
              <a:t>var </a:t>
            </a:r>
            <a:r>
              <a:rPr lang="en-US" sz="1900" dirty="0"/>
              <a:t>template = "{{#render}} {{</a:t>
            </a:r>
            <a:r>
              <a:rPr lang="en-US" sz="1900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fullname</a:t>
            </a:r>
            <a:r>
              <a:rPr lang="en-US" sz="1900" dirty="0"/>
              <a:t>}} {{/render}}";</a:t>
            </a:r>
          </a:p>
          <a:p>
            <a:r>
              <a:rPr lang="en-US" sz="1900" dirty="0" smtClean="0"/>
              <a:t>var </a:t>
            </a:r>
            <a:r>
              <a:rPr lang="en-US" sz="1900" dirty="0"/>
              <a:t>output = </a:t>
            </a:r>
            <a:r>
              <a:rPr lang="en-US" sz="1900" dirty="0" err="1"/>
              <a:t>Mustache.render</a:t>
            </a:r>
            <a:r>
              <a:rPr lang="en-US" sz="1900" dirty="0"/>
              <a:t>(template, </a:t>
            </a:r>
            <a:r>
              <a:rPr lang="en-US" sz="1900" dirty="0" err="1"/>
              <a:t>donchoPerson</a:t>
            </a:r>
            <a:r>
              <a:rPr lang="en-US" sz="19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1195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763486"/>
            <a:ext cx="7924800" cy="685800"/>
          </a:xfrm>
        </p:spPr>
        <p:txBody>
          <a:bodyPr/>
          <a:lstStyle/>
          <a:p>
            <a:r>
              <a:rPr lang="en-US" dirty="0" smtClean="0"/>
              <a:t>Render Functions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2500651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8194" name="Picture 2" descr="http://upload.wikimedia.org/wikipedia/commons/thumb/4/42/I_example_povray_scene_rendering.png/220px-I_example_povray_scene_render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3570513"/>
            <a:ext cx="2635854" cy="1976892"/>
          </a:xfrm>
          <a:prstGeom prst="roundRect">
            <a:avLst>
              <a:gd name="adj" fmla="val 3675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upload.wikimedia.org/wikipedia/commons/thumb/0/04/I_example_povray_scene_rendering2.png/220px-I_example_povray_scene_rendering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361" y="3570513"/>
            <a:ext cx="2635854" cy="1976892"/>
          </a:xfrm>
          <a:prstGeom prst="roundRect">
            <a:avLst>
              <a:gd name="adj" fmla="val 3675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59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401195"/>
            <a:ext cx="7924800" cy="685800"/>
          </a:xfrm>
        </p:spPr>
        <p:txBody>
          <a:bodyPr/>
          <a:lstStyle/>
          <a:p>
            <a:r>
              <a:rPr lang="en-US" dirty="0"/>
              <a:t>HTML Templates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4747" t="-8217" r="-4747" b="-8217"/>
          <a:stretch/>
        </p:blipFill>
        <p:spPr>
          <a:xfrm>
            <a:off x="2616290" y="2449287"/>
            <a:ext cx="4063818" cy="2917370"/>
          </a:xfrm>
          <a:prstGeom prst="roundRect">
            <a:avLst>
              <a:gd name="adj" fmla="val 10277"/>
            </a:avLst>
          </a:prstGeom>
          <a:solidFill>
            <a:schemeClr val="tx1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9977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Templates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2313454"/>
          </a:xfrm>
        </p:spPr>
        <p:txBody>
          <a:bodyPr/>
          <a:lstStyle/>
          <a:p>
            <a:r>
              <a:rPr lang="en-US" dirty="0" smtClean="0"/>
              <a:t>Mustache.js can render objects into HTML code</a:t>
            </a:r>
            <a:endParaRPr lang="en-US" dirty="0"/>
          </a:p>
          <a:p>
            <a:pPr lvl="1"/>
            <a:r>
              <a:rPr lang="en-US" sz="2800" dirty="0" smtClean="0"/>
              <a:t>As in KendoUI, </a:t>
            </a:r>
            <a:r>
              <a:rPr lang="en-US" sz="2800" dirty="0" err="1" smtClean="0"/>
              <a:t>jQueryTemplates</a:t>
            </a:r>
            <a:r>
              <a:rPr lang="en-US" sz="2800" dirty="0" smtClean="0"/>
              <a:t>, AngularJS, etc.</a:t>
            </a:r>
          </a:p>
          <a:p>
            <a:r>
              <a:rPr lang="en-US" dirty="0" smtClean="0"/>
              <a:t>Create a script tag with an invalid type value</a:t>
            </a:r>
          </a:p>
          <a:p>
            <a:pPr lvl="1"/>
            <a:r>
              <a:rPr lang="en-US" sz="2800" dirty="0" smtClean="0"/>
              <a:t>Put the template inside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33400" y="3252218"/>
            <a:ext cx="8077200" cy="3477875"/>
          </a:xfrm>
        </p:spPr>
        <p:txBody>
          <a:bodyPr/>
          <a:lstStyle/>
          <a:p>
            <a:r>
              <a:rPr lang="en-US" dirty="0"/>
              <a:t>&lt;script type</a:t>
            </a:r>
            <a:r>
              <a:rPr lang="en-US" dirty="0" smtClean="0"/>
              <a:t>="</a:t>
            </a:r>
            <a:r>
              <a:rPr lang="en-US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text/x-must-</a:t>
            </a:r>
            <a:r>
              <a:rPr lang="en-US" dirty="0" err="1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tmpl</a:t>
            </a:r>
            <a:r>
              <a:rPr lang="en-US" dirty="0" smtClean="0"/>
              <a:t>" </a:t>
            </a:r>
            <a:r>
              <a:rPr lang="en-US" dirty="0"/>
              <a:t>id="person-template</a:t>
            </a:r>
            <a:r>
              <a:rPr lang="en-US" dirty="0" smtClean="0"/>
              <a:t>"&gt;</a:t>
            </a:r>
            <a:endParaRPr lang="en-US" dirty="0"/>
          </a:p>
          <a:p>
            <a:r>
              <a:rPr lang="en-US" dirty="0" smtClean="0"/>
              <a:t>  &lt;</a:t>
            </a:r>
            <a:r>
              <a:rPr lang="en-US" dirty="0"/>
              <a:t>strong&gt;{{</a:t>
            </a:r>
            <a:r>
              <a:rPr lang="en-US" dirty="0" err="1"/>
              <a:t>fullname</a:t>
            </a:r>
            <a:r>
              <a:rPr lang="en-US" dirty="0"/>
              <a:t>}}&lt;/strong&gt;</a:t>
            </a:r>
          </a:p>
          <a:p>
            <a:r>
              <a:rPr lang="en-US" dirty="0" smtClean="0"/>
              <a:t>    &lt;</a:t>
            </a:r>
            <a:r>
              <a:rPr lang="en-US" dirty="0" err="1"/>
              <a:t>ul</a:t>
            </a:r>
            <a:r>
              <a:rPr lang="en-US" dirty="0" smtClean="0"/>
              <a:t>&gt;</a:t>
            </a:r>
          </a:p>
          <a:p>
            <a:r>
              <a:rPr lang="en-US" dirty="0"/>
              <a:t> </a:t>
            </a:r>
            <a:r>
              <a:rPr lang="en-US" dirty="0" smtClean="0"/>
              <a:t>     {{#</a:t>
            </a:r>
            <a:r>
              <a:rPr lang="en-US" dirty="0"/>
              <a:t>marks}} </a:t>
            </a:r>
            <a:endParaRPr lang="en-US" dirty="0" smtClean="0"/>
          </a:p>
          <a:p>
            <a:r>
              <a:rPr lang="en-US" dirty="0" smtClean="0"/>
              <a:t>        &lt;</a:t>
            </a:r>
            <a:r>
              <a:rPr lang="en-US" dirty="0"/>
              <a:t>li</a:t>
            </a:r>
            <a:r>
              <a:rPr lang="en-US" dirty="0" smtClean="0"/>
              <a:t>&gt;{{</a:t>
            </a:r>
            <a:r>
              <a:rPr lang="en-US" dirty="0"/>
              <a:t>subject}}: &lt;strong&gt;{{score}}&lt;/strong</a:t>
            </a:r>
            <a:r>
              <a:rPr lang="en-US" dirty="0" smtClean="0"/>
              <a:t>&gt;&lt;/</a:t>
            </a:r>
            <a:r>
              <a:rPr lang="en-US" dirty="0"/>
              <a:t>li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{{/</a:t>
            </a:r>
            <a:r>
              <a:rPr lang="en-US" dirty="0"/>
              <a:t>marks}}</a:t>
            </a:r>
          </a:p>
          <a:p>
            <a:r>
              <a:rPr lang="en-US" dirty="0" smtClean="0"/>
              <a:t>      {{^</a:t>
            </a:r>
            <a:r>
              <a:rPr lang="en-US" dirty="0"/>
              <a:t>marks}}	   </a:t>
            </a:r>
          </a:p>
          <a:p>
            <a:r>
              <a:rPr lang="en-US" dirty="0"/>
              <a:t>	</a:t>
            </a:r>
            <a:r>
              <a:rPr lang="en-US" dirty="0" smtClean="0"/>
              <a:t>  &lt;li&gt;This </a:t>
            </a:r>
            <a:r>
              <a:rPr lang="en-US" dirty="0"/>
              <a:t>student has no marks, </a:t>
            </a:r>
            <a:r>
              <a:rPr lang="en-US" dirty="0" smtClean="0"/>
              <a:t>yet&lt;/</a:t>
            </a:r>
            <a:r>
              <a:rPr lang="en-US" dirty="0"/>
              <a:t>li&gt;</a:t>
            </a:r>
          </a:p>
          <a:p>
            <a:r>
              <a:rPr lang="en-US" dirty="0" smtClean="0"/>
              <a:t>      {{/</a:t>
            </a:r>
            <a:r>
              <a:rPr lang="en-US" dirty="0"/>
              <a:t>marks}}</a:t>
            </a:r>
          </a:p>
          <a:p>
            <a:r>
              <a:rPr lang="en-US" dirty="0" smtClean="0"/>
              <a:t>    &lt;/</a:t>
            </a:r>
            <a:r>
              <a:rPr lang="en-US" dirty="0" err="1"/>
              <a:t>ul</a:t>
            </a:r>
            <a:r>
              <a:rPr lang="en-US" dirty="0"/>
              <a:t>&gt;			</a:t>
            </a:r>
            <a:endParaRPr lang="en-US" dirty="0" smtClean="0"/>
          </a:p>
          <a:p>
            <a:r>
              <a:rPr lang="en-US" dirty="0" smtClean="0"/>
              <a:t>&lt;/</a:t>
            </a:r>
            <a:r>
              <a:rPr lang="en-US" dirty="0"/>
              <a:t>script&gt;</a:t>
            </a:r>
          </a:p>
        </p:txBody>
      </p:sp>
    </p:spTree>
    <p:extLst>
      <p:ext uri="{BB962C8B-B14F-4D97-AF65-F5344CB8AC3E}">
        <p14:creationId xmlns:p14="http://schemas.microsoft.com/office/powerpoint/2010/main" val="36239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Templates (2)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435608"/>
            <a:ext cx="8686800" cy="996696"/>
          </a:xfrm>
        </p:spPr>
        <p:txBody>
          <a:bodyPr/>
          <a:lstStyle/>
          <a:p>
            <a:r>
              <a:rPr lang="en-US" dirty="0" smtClean="0"/>
              <a:t>Implement a render function that takes a template</a:t>
            </a:r>
            <a:endParaRPr lang="en-US" sz="2800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33400" y="2667002"/>
            <a:ext cx="8077200" cy="3170099"/>
          </a:xfrm>
        </p:spPr>
        <p:txBody>
          <a:bodyPr/>
          <a:lstStyle/>
          <a:p>
            <a:r>
              <a:rPr lang="en-US" dirty="0" smtClean="0"/>
              <a:t>function render(items, template) </a:t>
            </a:r>
            <a:r>
              <a:rPr lang="en-US" dirty="0"/>
              <a:t>{</a:t>
            </a:r>
          </a:p>
          <a:p>
            <a:r>
              <a:rPr lang="en-US" dirty="0" smtClean="0"/>
              <a:t>  var </a:t>
            </a:r>
            <a:r>
              <a:rPr lang="en-US" dirty="0"/>
              <a:t>list = </a:t>
            </a:r>
            <a:r>
              <a:rPr lang="en-US" dirty="0" err="1"/>
              <a:t>document.createElement</a:t>
            </a:r>
            <a:r>
              <a:rPr lang="en-US" dirty="0"/>
              <a:t>("</a:t>
            </a:r>
            <a:r>
              <a:rPr lang="en-US" dirty="0" err="1"/>
              <a:t>ul</a:t>
            </a:r>
            <a:r>
              <a:rPr lang="en-US" dirty="0"/>
              <a:t>");</a:t>
            </a:r>
          </a:p>
          <a:p>
            <a:r>
              <a:rPr lang="en-US" dirty="0" smtClean="0"/>
              <a:t>  for </a:t>
            </a:r>
            <a:r>
              <a:rPr lang="en-US" dirty="0"/>
              <a:t>(var i = 0; i &lt; </a:t>
            </a:r>
            <a:r>
              <a:rPr lang="en-US" dirty="0" err="1" smtClean="0"/>
              <a:t>items.length</a:t>
            </a:r>
            <a:r>
              <a:rPr lang="en-US" dirty="0"/>
              <a:t>; i++) {</a:t>
            </a:r>
          </a:p>
          <a:p>
            <a:r>
              <a:rPr lang="en-US" dirty="0" smtClean="0"/>
              <a:t>    var </a:t>
            </a:r>
            <a:r>
              <a:rPr lang="en-US" dirty="0" err="1"/>
              <a:t>listItem</a:t>
            </a:r>
            <a:r>
              <a:rPr lang="en-US" dirty="0"/>
              <a:t> = </a:t>
            </a:r>
            <a:r>
              <a:rPr lang="en-US" dirty="0" err="1"/>
              <a:t>document.createElement</a:t>
            </a:r>
            <a:r>
              <a:rPr lang="en-US" dirty="0"/>
              <a:t>("li");</a:t>
            </a:r>
          </a:p>
          <a:p>
            <a:r>
              <a:rPr lang="en-US" dirty="0" smtClean="0"/>
              <a:t>    var </a:t>
            </a:r>
            <a:r>
              <a:rPr lang="en-US" dirty="0"/>
              <a:t>item = </a:t>
            </a:r>
            <a:r>
              <a:rPr lang="en-US" dirty="0" err="1"/>
              <a:t>this.itemsSource</a:t>
            </a:r>
            <a:r>
              <a:rPr lang="en-US" dirty="0"/>
              <a:t>[i];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listItem.innerHTML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template(item</a:t>
            </a:r>
            <a:r>
              <a:rPr lang="en-US" dirty="0"/>
              <a:t>);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list.appendChild</a:t>
            </a:r>
            <a:r>
              <a:rPr lang="en-US" dirty="0" smtClean="0"/>
              <a:t>(</a:t>
            </a:r>
            <a:r>
              <a:rPr lang="en-US" dirty="0" err="1" smtClean="0"/>
              <a:t>listItem</a:t>
            </a:r>
            <a:r>
              <a:rPr lang="en-US" dirty="0"/>
              <a:t>);</a:t>
            </a:r>
          </a:p>
          <a:p>
            <a:r>
              <a:rPr lang="en-US" dirty="0" smtClean="0"/>
              <a:t>  }</a:t>
            </a:r>
            <a:endParaRPr lang="en-US" dirty="0"/>
          </a:p>
          <a:p>
            <a:r>
              <a:rPr lang="en-US" dirty="0" smtClean="0"/>
              <a:t>  return </a:t>
            </a:r>
            <a:r>
              <a:rPr lang="en-US" dirty="0" err="1"/>
              <a:t>list.outerHTML</a:t>
            </a:r>
            <a:r>
              <a:rPr lang="en-US" dirty="0"/>
              <a:t>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38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Templates (3)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435608"/>
            <a:ext cx="8686800" cy="1015663"/>
          </a:xfrm>
        </p:spPr>
        <p:txBody>
          <a:bodyPr/>
          <a:lstStyle/>
          <a:p>
            <a:r>
              <a:rPr lang="en-US" dirty="0" smtClean="0"/>
              <a:t>Using compiled templates, pass an item collection and the compiled template </a:t>
            </a:r>
            <a:endParaRPr lang="en-US" sz="2800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33400" y="2667002"/>
            <a:ext cx="8077200" cy="2246769"/>
          </a:xfrm>
        </p:spPr>
        <p:txBody>
          <a:bodyPr/>
          <a:lstStyle/>
          <a:p>
            <a:r>
              <a:rPr lang="en-US" dirty="0" smtClean="0"/>
              <a:t>var </a:t>
            </a:r>
            <a:r>
              <a:rPr lang="en-US" dirty="0" err="1" smtClean="0"/>
              <a:t>templateHTML</a:t>
            </a:r>
            <a:r>
              <a:rPr lang="en-US" dirty="0" smtClean="0"/>
              <a:t> = 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document.getElementById</a:t>
            </a:r>
            <a:r>
              <a:rPr lang="en-US" dirty="0" smtClean="0"/>
              <a:t>("person-template").innerHTML;</a:t>
            </a:r>
          </a:p>
          <a:p>
            <a:r>
              <a:rPr lang="en-US" dirty="0" smtClean="0"/>
              <a:t>var template = </a:t>
            </a:r>
            <a:r>
              <a:rPr lang="en-US" dirty="0" err="1" smtClean="0"/>
              <a:t>Mustache.compile</a:t>
            </a:r>
            <a:r>
              <a:rPr lang="en-US" dirty="0" smtClean="0"/>
              <a:t>(</a:t>
            </a:r>
            <a:r>
              <a:rPr lang="en-US" dirty="0" err="1" smtClean="0"/>
              <a:t>templateHTML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var people = […]</a:t>
            </a:r>
          </a:p>
          <a:p>
            <a:endParaRPr lang="en-US" dirty="0"/>
          </a:p>
          <a:p>
            <a:r>
              <a:rPr lang="en-US" dirty="0" smtClean="0"/>
              <a:t>render(people, template);</a:t>
            </a:r>
          </a:p>
        </p:txBody>
      </p:sp>
    </p:spTree>
    <p:extLst>
      <p:ext uri="{BB962C8B-B14F-4D97-AF65-F5344CB8AC3E}">
        <p14:creationId xmlns:p14="http://schemas.microsoft.com/office/powerpoint/2010/main" val="145106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HTML Templates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15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mustache.js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67891" y="6400800"/>
            <a:ext cx="2957797" cy="369332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1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indent="-357188">
              <a:buFont typeface="+mj-lt"/>
              <a:buAutoNum type="arabicPeriod"/>
              <a:tabLst>
                <a:tab pos="357188" algn="l"/>
                <a:tab pos="628650" algn="l"/>
              </a:tabLst>
            </a:pPr>
            <a:r>
              <a:rPr lang="en-US" sz="2800" dirty="0" smtClean="0"/>
              <a:t>Change the </a:t>
            </a:r>
            <a:r>
              <a:rPr lang="en-US" sz="2800" dirty="0" err="1" smtClean="0"/>
              <a:t>ListView</a:t>
            </a:r>
            <a:r>
              <a:rPr lang="en-US" sz="2800" dirty="0" smtClean="0"/>
              <a:t> from the last demo to use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TABLE</a:t>
            </a:r>
            <a:r>
              <a:rPr lang="en-US" sz="2800" dirty="0" smtClean="0"/>
              <a:t> instead of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UL</a:t>
            </a:r>
          </a:p>
          <a:p>
            <a:pPr lvl="1"/>
            <a:r>
              <a:rPr lang="en-US" sz="2600" dirty="0" smtClean="0"/>
              <a:t>The </a:t>
            </a:r>
            <a:r>
              <a:rPr lang="en-US" sz="26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TableView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600" dirty="0" smtClean="0"/>
              <a:t>gets number of rows and columns in its constructor</a:t>
            </a:r>
            <a:endParaRPr lang="en-US" sz="2600" dirty="0"/>
          </a:p>
          <a:p>
            <a:pPr lvl="1"/>
            <a:r>
              <a:rPr lang="en-US" sz="2600" dirty="0" smtClean="0"/>
              <a:t>The </a:t>
            </a:r>
            <a:r>
              <a:rPr lang="en-US" sz="2600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TableView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600" dirty="0" smtClean="0"/>
              <a:t>renders the elements in table cells</a:t>
            </a:r>
          </a:p>
          <a:p>
            <a:pPr lvl="2"/>
            <a:r>
              <a:rPr lang="en-US" sz="2400" dirty="0" smtClean="0"/>
              <a:t>Each element gets only a single cell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71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Homework (2)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57188" algn="l"/>
                <a:tab pos="628650" algn="l"/>
              </a:tabLst>
            </a:pPr>
            <a:r>
              <a:rPr lang="en-US" sz="2800" dirty="0" smtClean="0"/>
              <a:t>Create a web services that returns a list of students</a:t>
            </a:r>
          </a:p>
          <a:p>
            <a:pPr lvl="1"/>
            <a:r>
              <a:rPr lang="en-US" sz="2600" dirty="0" smtClean="0"/>
              <a:t>Students have first and last name, grade, age and list of marks</a:t>
            </a:r>
          </a:p>
          <a:p>
            <a:pPr lvl="1"/>
            <a:r>
              <a:rPr lang="en-US" sz="2600" dirty="0" smtClean="0"/>
              <a:t>Marks have subject and score</a:t>
            </a:r>
            <a:endParaRPr lang="en-US" sz="2800" dirty="0" smtClean="0"/>
          </a:p>
          <a:p>
            <a:pPr marL="571500" indent="-571500">
              <a:buFont typeface="+mj-lt"/>
              <a:buAutoNum type="arabicPeriod" startAt="2"/>
              <a:tabLst>
                <a:tab pos="357188" algn="l"/>
                <a:tab pos="628650" algn="l"/>
              </a:tabLst>
            </a:pPr>
            <a:r>
              <a:rPr lang="en-US" sz="2800" dirty="0" smtClean="0"/>
              <a:t>Create a Master-detail for the students and their marks</a:t>
            </a:r>
          </a:p>
          <a:p>
            <a:pPr lvl="1"/>
            <a:r>
              <a:rPr lang="en-US" sz="2800" dirty="0" smtClean="0"/>
              <a:t>Create a template for rendering students</a:t>
            </a:r>
          </a:p>
          <a:p>
            <a:pPr lvl="1"/>
            <a:r>
              <a:rPr lang="en-US" sz="2800" dirty="0" smtClean="0"/>
              <a:t>Create a template for rendering marks</a:t>
            </a:r>
          </a:p>
          <a:p>
            <a:pPr lvl="1"/>
            <a:r>
              <a:rPr lang="en-US" sz="2800" dirty="0" smtClean="0"/>
              <a:t>When student is clicked, their marks must be rendered in another HTML element</a:t>
            </a:r>
          </a:p>
        </p:txBody>
      </p:sp>
    </p:spTree>
    <p:extLst>
      <p:ext uri="{BB962C8B-B14F-4D97-AF65-F5344CB8AC3E}">
        <p14:creationId xmlns:p14="http://schemas.microsoft.com/office/powerpoint/2010/main" val="1170276928"/>
      </p:ext>
    </p:extLst>
  </p:cSld>
  <p:clrMapOvr>
    <a:masterClrMapping/>
  </p:clrMapOvr>
</p:sld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838</Words>
  <Application>Microsoft Office PowerPoint</Application>
  <PresentationFormat>On-screen Show (4:3)</PresentationFormat>
  <Paragraphs>146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Telerik Academy</vt:lpstr>
      <vt:lpstr>SVG Scalable Vector Graphics</vt:lpstr>
      <vt:lpstr>Table of Contents</vt:lpstr>
      <vt:lpstr>SVG Overview</vt:lpstr>
      <vt:lpstr>Vector Graphics Overview </vt:lpstr>
      <vt:lpstr>Using SVG in a web page</vt:lpstr>
      <vt:lpstr>Simple SVG</vt:lpstr>
      <vt:lpstr>Simple Animations</vt:lpstr>
      <vt:lpstr>Animations Demo</vt:lpstr>
      <vt:lpstr>Filters</vt:lpstr>
      <vt:lpstr>List Sections</vt:lpstr>
      <vt:lpstr>Inverted Sections</vt:lpstr>
      <vt:lpstr>Inverted Sections: Example</vt:lpstr>
      <vt:lpstr>Inverted  Sections</vt:lpstr>
      <vt:lpstr>Render Functions</vt:lpstr>
      <vt:lpstr>Render Functions</vt:lpstr>
      <vt:lpstr>Render Functions</vt:lpstr>
      <vt:lpstr>HTML Templates</vt:lpstr>
      <vt:lpstr>HTML Templates</vt:lpstr>
      <vt:lpstr>HTML Templates (2)</vt:lpstr>
      <vt:lpstr>HTML Templates (3)</vt:lpstr>
      <vt:lpstr>HTML Templates</vt:lpstr>
      <vt:lpstr>mustache.js</vt:lpstr>
      <vt:lpstr>Homework</vt:lpstr>
      <vt:lpstr>Homework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Doncho Minkov</dc:creator>
  <cp:lastModifiedBy>Antony Jekov</cp:lastModifiedBy>
  <cp:revision>423</cp:revision>
  <dcterms:created xsi:type="dcterms:W3CDTF">2013-08-21T17:07:08Z</dcterms:created>
  <dcterms:modified xsi:type="dcterms:W3CDTF">2013-11-27T12:49:04Z</dcterms:modified>
</cp:coreProperties>
</file>